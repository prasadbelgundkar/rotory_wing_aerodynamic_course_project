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Significance: tandem interference is a major power penalty for tandems in low-to-moderate speed forward flight. It sets engine sizing, fuel burn and the fwd/aft load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modeling_project/model_selection.md.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4000" b="1">
                <a:solidFill>
                  <a:srgbClr val="FFFFFF"/>
                </a:solidFill>
              </a:rPr>
              <a:t>Tandem-Rotor Interference in Forward Flight</a:t>
            </a:r>
          </a:p>
          <a:p>
            <a:r>
              <a:rPr sz="2200">
                <a:solidFill>
                  <a:srgbClr val="DDE6F0"/>
                </a:solidFill>
              </a:rPr>
              <a:t>Free-vortex wake model of the forward-rotor wake acting on the aft rotor, applied to a CH-47 Chinook class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• Rotary-Wing Aerodynamics: Advanced Concept Modeling Project, Team 6</a:t>
            </a:r>
          </a:p>
          <a:p>
            <a:pPr>
              <a:spcAft>
                <a:spcPts val="600"/>
              </a:spcAft>
            </a:pPr>
            <a:r>
              <a:rPr sz="2000"/>
              <a:t>• Special topic: coaxial / multirotor interference (handout example list)</a:t>
            </a:r>
          </a:p>
          <a:p>
            <a:pPr>
              <a:spcAft>
                <a:spcPts val="600"/>
              </a:spcAft>
            </a:pPr>
            <a:r>
              <a:rPr sz="2000"/>
              <a:t>• Team members (name, roll number):</a:t>
            </a:r>
          </a:p>
          <a:p>
            <a:pPr lvl="1">
              <a:spcAft>
                <a:spcPts val="600"/>
              </a:spcAft>
            </a:pPr>
            <a:r>
              <a:rPr sz="1800"/>
              <a:t>– Prasad  —  Roll No. [FILL IN]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C02020"/>
                </a:solidFill>
              </a:rPr>
              <a:t>– Member 2 name  —  Roll No. [FILL IN]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C02020"/>
                </a:solidFill>
              </a:rPr>
              <a:t>– Member 3 name  —  Roll No. [FILL IN]</a:t>
            </a:r>
          </a:p>
          <a:p>
            <a:pPr lvl="1">
              <a:spcAft>
                <a:spcPts val="600"/>
              </a:spcAft>
            </a:pPr>
            <a:r>
              <a:rPr sz="1800" b="1">
                <a:solidFill>
                  <a:srgbClr val="C02020"/>
                </a:solidFill>
              </a:rPr>
              <a:t>– Member 4 name  —  Roll No. [FILL IN]</a:t>
            </a:r>
          </a:p>
          <a:p>
            <a:pPr>
              <a:spcAft>
                <a:spcPts val="600"/>
              </a:spcAft>
            </a:pPr>
            <a:r>
              <a:rPr sz="2000"/>
              <a:t>• 18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Background: what the phenomenon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Background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/>
              <a:t>• A tandem helicopter has two counter-rotating rotors in line; the aft rotor works partly or wholly in the wake of the forward rotor.</a:t>
            </a:r>
          </a:p>
          <a:p>
            <a:pPr>
              <a:spcAft>
                <a:spcPts val="600"/>
              </a:spcAft>
            </a:pPr>
            <a:r>
              <a:rPr sz="1900"/>
              <a:t>• Hover: the wakes interact mainly in the overlap lens (14.9 % of one disk for the CH-47 class); each rotor induces velocity on the other.</a:t>
            </a:r>
          </a:p>
          <a:p>
            <a:pPr>
              <a:spcAft>
                <a:spcPts val="600"/>
              </a:spcAft>
            </a:pPr>
            <a:r>
              <a:rPr sz="1900"/>
              <a:t>• Forward flight: the forward wake is skewed rearward and swept through the aft disk. The aft rotor then flies in a downwash comparable to the forward rotor's own far-wake value (up to ~2v_i).</a:t>
            </a:r>
          </a:p>
          <a:p>
            <a:pPr>
              <a:spcAft>
                <a:spcPts val="600"/>
              </a:spcAft>
            </a:pPr>
            <a:r>
              <a:rPr sz="1900"/>
              <a:t>• Extra downwash on the aft rotor = extra induced power, an aft-heavy power split, and changed trim (differential collective, cyclic).</a:t>
            </a:r>
          </a:p>
          <a:p>
            <a:pPr>
              <a:spcAft>
                <a:spcPts val="600"/>
              </a:spcAft>
            </a:pPr>
            <a:r>
              <a:rPr sz="1900"/>
              <a:t>• Design response seen on real aircraft: the CH-47 aft rotor is raised on a tall pylon and the shafts are spaced ~1.5R apart to reduce interference.</a:t>
            </a:r>
          </a:p>
          <a:p>
            <a:pPr>
              <a:spcAft>
                <a:spcPts val="600"/>
              </a:spcAft>
            </a:pPr>
            <a:r>
              <a:rPr sz="1900"/>
              <a:t>• Single-rotor BEMT / momentum tools assume each rotor sees only the free stream, so they under-predict tandem power. That is the gap this project fills.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Background: applicability to our CH-47 class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Background  |  Team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</a:tblGrid>
              <a:tr h="320040">
                <a:tc>
                  <a:txBody>
                    <a:bodyPr/>
                    <a:lstStyle/>
                    <a:p>
                      <a:r>
                        <a:rPr sz="1500" b="1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Value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Rotor radius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9.14 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Shaft separation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13.60 m (1.487 R)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Disk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14.94 % of one disk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Aft rotor height above fwd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1.30 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MTOW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22 680 kg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Blades fwd / 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3 / 3, counter-rotating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Tip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220 m/s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500" b="0"/>
                        <a:t>Fuselage flat-plate area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3.7 m² (assumed)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Hand check (momentum, sea-level ISA, equal split): disk loading ≈ 424 N/m² per rotor, ideal hover v_i ≈ 13.2 m/s, ideal induced power ≈ 2.93 MW total, with no interference.</a:t>
            </a:r>
          </a:p>
          <a:p>
            <a:pPr>
              <a:spcAft>
                <a:spcPts val="600"/>
              </a:spcAft>
            </a:pPr>
            <a:r>
              <a:rPr sz="1700"/>
              <a:t>• Any interference model must raise this. Our target question: how much, and on which rotor, across the speed range?</a:t>
            </a:r>
          </a:p>
          <a:p>
            <a:pPr>
              <a:spcAft>
                <a:spcPts val="600"/>
              </a:spcAft>
            </a:pPr>
            <a:r>
              <a:rPr sz="1700"/>
              <a:t>• Applicable regime: hover to cruise transition and low/moderate speed (μ ≈ 0.1–0.2), where induced power is a large share of total power and the forward wake passes close to the aft disk.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Background: the key physical 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Background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Momentum theory (actuator disk): T = ṁ·w, ideal power P = T·(V_c + v_i). Air already moving down through the disk at V_c costs extra power T·V_c, exactly as in climb.</a:t>
            </a:r>
          </a:p>
          <a:p>
            <a:pPr lvl="1">
              <a:spcAft>
                <a:spcPts val="600"/>
              </a:spcAft>
            </a:pPr>
            <a:r>
              <a:rPr sz="1500"/>
              <a:t>– A rotor in another rotor's downwash is therefore a rotor "in climb": same thrust, more collective, more induced power.</a:t>
            </a:r>
          </a:p>
          <a:p>
            <a:pPr>
              <a:spcAft>
                <a:spcPts val="600"/>
              </a:spcAft>
            </a:pPr>
            <a:r>
              <a:rPr sz="1700"/>
              <a:t>• Forward flight (Glauert): v_i = T / (2ρA·√(V² + v_i²)) ≈ T/(2ρAV) at moderate speed, so induced velocity and induced power fall roughly as 1/V.</a:t>
            </a:r>
          </a:p>
          <a:p>
            <a:pPr>
              <a:spcAft>
                <a:spcPts val="600"/>
              </a:spcAft>
            </a:pPr>
            <a:r>
              <a:rPr sz="1700"/>
              <a:t>• Wake skew angle from the shaft axis: χ = arctan(μ / (μ_z + λ_i)). Hover χ = 0 (wake straight down); as μ rises χ → 90° and the wake trails back almost in the rotor plane, over anything behind it.</a:t>
            </a:r>
          </a:p>
          <a:p>
            <a:pPr lvl="1">
              <a:spcAft>
                <a:spcPts val="600"/>
              </a:spcAft>
            </a:pPr>
            <a:r>
              <a:rPr sz="1500"/>
              <a:t>– Hover: interaction only where the disks overlap, and mutual. Forward flight: the forward wake reaches the whole aft disk, even with no overlap; one-sided.</a:t>
            </a:r>
          </a:p>
          <a:p>
            <a:pPr>
              <a:spcAft>
                <a:spcPts val="600"/>
              </a:spcAft>
            </a:pPr>
            <a:r>
              <a:rPr sz="1700"/>
              <a:t>• Power-required "bucket": induced (falls ~1/V) + profile (rises slowly, ~1 + 4.65μ²) + parasite (rises ~V³). Minimum = best endurance and best climb speed.</a:t>
            </a:r>
          </a:p>
          <a:p>
            <a:pPr>
              <a:spcAft>
                <a:spcPts val="600"/>
              </a:spcAft>
            </a:pPr>
            <a:r>
              <a:rPr sz="1700"/>
              <a:t>• Hover: P ∝ T·√(T/2ρA), so power grows with √(disk loading); figure of merit FM = P_ideal / P_actual measures losses. Interference acts like a loss of FM for the rotor 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Background: blade–wake interaction and tandem design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Background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Tip vortex: concentrated vorticity with a small viscous core; induced velocity is large near it and changes sign across it (upwash on one side, downwash on the other).</a:t>
            </a:r>
          </a:p>
          <a:p>
            <a:pPr>
              <a:spcAft>
                <a:spcPts val="600"/>
              </a:spcAft>
            </a:pPr>
            <a:r>
              <a:rPr sz="1600"/>
              <a:t>• Blade–vortex interaction (BVI): an aft blade passing close to a forward tip vortex sees a rapid swing in local angle of attack → impulsive lift, BVI noise ("blade slap") and vibratory hub loads.</a:t>
            </a:r>
          </a:p>
          <a:p>
            <a:pPr lvl="1">
              <a:spcAft>
                <a:spcPts val="600"/>
              </a:spcAft>
            </a:pPr>
            <a:r>
              <a:rPr sz="1400"/>
              <a:t>– Encounter strength set by vortex circulation (forward-rotor thrust), miss distance and blade–vortex angle (parallel = most impulsive).</a:t>
            </a:r>
          </a:p>
          <a:p>
            <a:pPr lvl="1">
              <a:spcAft>
                <a:spcPts val="600"/>
              </a:spcAft>
            </a:pPr>
            <a:r>
              <a:rPr sz="1400"/>
              <a:t>– Miss distance set by vertical stagger, wake skew and descent (advance ratio, inflow, shaft tilt) and longitudinal separation; blade phasing sets where encounters occur.</a:t>
            </a:r>
          </a:p>
          <a:p>
            <a:pPr>
              <a:spcAft>
                <a:spcPts val="600"/>
              </a:spcAft>
            </a:pPr>
            <a:r>
              <a:rPr sz="1600"/>
              <a:t>• Non-uniform, laterally asymmetric downwash on the aft disk adds roll and pitch moments that the aft rotor's cyclic must trim out.</a:t>
            </a:r>
          </a:p>
          <a:p>
            <a:pPr>
              <a:spcAft>
                <a:spcPts val="600"/>
              </a:spcAft>
            </a:pPr>
            <a:r>
              <a:rPr sz="1600"/>
              <a:t>• Tandem design features driven by the interaction:</a:t>
            </a:r>
          </a:p>
          <a:p>
            <a:pPr lvl="1">
              <a:spcAft>
                <a:spcPts val="600"/>
              </a:spcAft>
            </a:pPr>
            <a:r>
              <a:rPr sz="1400"/>
              <a:t>– Counter-rotation: torques cancel (no tail rotor); blades in the overlap move in the same direction, which eases interleaving.</a:t>
            </a:r>
          </a:p>
          <a:p>
            <a:pPr lvl="1">
              <a:spcAft>
                <a:spcPts val="600"/>
              </a:spcAft>
            </a:pPr>
            <a:r>
              <a:rPr sz="1400"/>
              <a:t>– Blades interleave in the overlap, so the rotors are synchronised at a fixed phase through a cross-shaft; loss of synchronisation means blade collision.</a:t>
            </a:r>
          </a:p>
          <a:p>
            <a:pPr lvl="1">
              <a:spcAft>
                <a:spcPts val="600"/>
              </a:spcAft>
            </a:pPr>
            <a:r>
              <a:rPr sz="1400"/>
              <a:t>– Aft rotor raised on a tall pylon and shafts ~1.5R apart: keeps the aft rotor above most of the forward wake and increases miss distance, at a weight and drag cost.</a:t>
            </a:r>
          </a:p>
          <a:p>
            <a:pPr lvl="1">
              <a:spcAft>
                <a:spcPts val="600"/>
              </a:spcAft>
            </a:pPr>
            <a:r>
              <a:rPr sz="1400"/>
              <a:t>– Longitudinal trim by differential collective between the rotors.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Literature review: modelling methods for rotor–rotor interference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Literature Review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Momentum / overlap corrections: empirical induced-power factor applied to the overlap area. Instant, but no wake geometry and no forward-flight sweep.</a:t>
            </a:r>
          </a:p>
          <a:p>
            <a:pPr>
              <a:spcAft>
                <a:spcPts val="600"/>
              </a:spcAft>
            </a:pPr>
            <a:r>
              <a:rPr sz="1600"/>
              <a:t>• Vortex cylinder (Coleman, Feingold &amp; Stempin 1945): uniformly loaded, non-contracting wake; v grows from v_i at the disk to 2v_i far downstream. Used for tandems by Tate (1958). This is what our teammate's BEMT tool uses on the overlap area.</a:t>
            </a:r>
          </a:p>
          <a:p>
            <a:pPr>
              <a:spcAft>
                <a:spcPts val="600"/>
              </a:spcAft>
            </a:pPr>
            <a:r>
              <a:rPr sz="1600"/>
              <a:t>• A. Rigid helical wake: discrete tip vortices on a fixed helix, Biot–Savart. Adds blade number and correct sign above/below the disk; no contraction.</a:t>
            </a:r>
          </a:p>
          <a:p>
            <a:pPr>
              <a:spcAft>
                <a:spcPts val="600"/>
              </a:spcAft>
            </a:pPr>
            <a:r>
              <a:rPr sz="1600"/>
              <a:t>• B. Prescribed wake (Landgrebe 1969; Kocurek &amp; Tangler 1976; Young 1976 with strip theory; Egolf &amp; Landgrebe 1983 for forward flight): empirical tip-vortex geometry fitted to isolated-rotor tests.</a:t>
            </a:r>
          </a:p>
          <a:p>
            <a:pPr>
              <a:spcAft>
                <a:spcPts val="600"/>
              </a:spcAft>
            </a:pPr>
            <a:r>
              <a:rPr sz="1600"/>
              <a:t>• C. Free-vortex wake (Bhagwat &amp; Leishman 2001; Leishman &amp; Bagai 1994 twin rotors; Griffiths &amp; Leishman 2002; Tonkal et al. 2010 rear rotor in front rotor wake): markers convected by the local velocity, mutual wake distortion captured.</a:t>
            </a:r>
          </a:p>
          <a:p>
            <a:pPr>
              <a:spcAft>
                <a:spcPts val="600"/>
              </a:spcAft>
            </a:pPr>
            <a:r>
              <a:rPr sz="1600"/>
              <a:t>• D. Viscous vortex particle method (Tan, Sun &amp; Barakos 2018 CH-47D tandem; DUST, Zanotti et al. 2021): particles, handles wake merging; separate solver, hours per case.</a:t>
            </a:r>
          </a:p>
          <a:p>
            <a:pPr>
              <a:spcAft>
                <a:spcPts val="600"/>
              </a:spcAft>
            </a:pPr>
            <a:r>
              <a:rPr sz="1600"/>
              <a:t>• CFD (e.g. Chen et al. 2019 extracting tandem/coaxial inflow models) sits at the top of the fidelity ladder.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Literature review: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Literature Review  |  Team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017520"/>
                <a:gridCol w="1097280"/>
                <a:gridCol w="2560320"/>
              </a:tblGrid>
              <a:tr h="320039">
                <a:tc>
                  <a:txBody>
                    <a:bodyPr/>
                    <a:lstStyle/>
                    <a:p>
                      <a:r>
                        <a:rPr sz="14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Captures (fwd → aft)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Misses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Tandem evidence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/>
                        <a:t>Coleman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Mean Δv, v_i → 2v_i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Contraction, tip vortices, wake skew outside 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Trivial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Tate 1958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/>
                        <a:t>A. Rigid helix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Off-axis tip-vortex field, sign above/below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Contraction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&lt; 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 specific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/>
                        <a:t>B. Prescribed wake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+ contraction, two-rate descent, Δv(r)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Mutual distortion; isolated-rotor hover 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&lt; 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Young 1976 (single rotor)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400" b="0"/>
                        <a:t>C. Free-vortex wake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Mutual distortion, unsteady, forward flight skew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Viscous merging only via core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Leishman &amp; Bagai 1994; Tonkal 2010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400" b="0"/>
                        <a:t>D. Viscous VPM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All above + wake merging, ground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Cost; external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Tan, Sun &amp; Barakos 2018 (CH-47D)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Data sources for comparison: Dingeldein NACA TN-3236 (1954) tandem wind-tunnel power vs μ; Sweet NASA TN D-534 (1960) overlapped hover; Tan et al. (2018) CH-47D model.</a:t>
            </a:r>
          </a:p>
          <a:p>
            <a:pPr>
              <a:spcAft>
                <a:spcPts val="600"/>
              </a:spcAft>
            </a:pPr>
            <a:r>
              <a:rPr sz="1600"/>
              <a:t>• Foundational: Coleman 1945, Landgrebe 1969. Recent archival: Tan et al. 2018 (J. Aircraft), Zanotti et al. 2021, Chen et al. 2019.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Model selection (1/2): free-vortex wake, judged on the rubric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Model Selection  |  Team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468880"/>
                <a:gridCol w="2926080"/>
                <a:gridCol w="2103120"/>
              </a:tblGrid>
              <a:tr h="320039">
                <a:tc>
                  <a:txBody>
                    <a:bodyPr/>
                    <a:lstStyle/>
                    <a:p>
                      <a:r>
                        <a:rPr sz="1200" b="1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Coleman cylinder (original tool)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Prescribed-wake hybrid (survey's first choice)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Free-vortex wake → Δv map (selected)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Vortex particle method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 b="0"/>
                        <a:t>Physical fidelity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Uniform Δv on overlap only; zero for separated disks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Contracted tip vortices; isolated-rotor hover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Both wakes free and mutually distorted; skewed forward-flight wake; correct sign above/below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Highest; wake merging, viscous effects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 b="0"/>
                        <a:t>Required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v_i, overlap, stagger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 empirical wake constants fitted to untapered blades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Same blade geometry and airfoil as BEMT; core-model constants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 solver and particle setup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 b="0"/>
                        <a:t>Cost in the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≈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&lt; 1 s per BEMT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Minutes per μ offline, then &lt; 1 s per 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Hours per case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 b="0"/>
                        <a:t>Validation data we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Predicts 0 for TN-3236: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Hover only; no verifiable hover overlap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TN-3236 Fig. 6 forward flight, digitised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No tandem forward-flight results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200" b="0"/>
                        <a:t>Compatibility with our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Already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Needs per-station inflow; hover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Enters azimuth-resolved edgewise BEMT via one external_inflow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External solver only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r>
                        <a:rPr sz="1200" b="0"/>
                        <a:t>Fit to CH-47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Small hover effect (+2.7 %)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Hover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Forward flight, where the CH-47 spends its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Benchmark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Model selection (2/2): why the plan changed after the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Model Selection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The data decided it. The only tandem data set we could obtain and digitise is Dingeldein, NACA TN-3236 Fig. 6: level forward flight, two rotors 1.03 D apart, no disk overlap. A model has to work in forward flight to be validated at all.</a:t>
            </a:r>
          </a:p>
          <a:p>
            <a:pPr>
              <a:spcAft>
                <a:spcPts val="600"/>
              </a:spcAft>
            </a:pPr>
            <a:r>
              <a:rPr sz="1700"/>
              <a:t>• Overlap models miss the effect. Coleman's overlap model predicts zero interference for that rig, yet the rear rotor needs 6–9 hp (60–70 %) more than a single rotor. In forward flight the forward wake is swept over the whole aft disk.</a:t>
            </a:r>
          </a:p>
          <a:p>
            <a:pPr>
              <a:spcAft>
                <a:spcPts val="600"/>
              </a:spcAft>
            </a:pPr>
            <a:r>
              <a:rPr sz="1700"/>
              <a:t>• A prescribed wake cannot do this either: Landgrebe / Kocurek–Tangler fits are isolated-rotor hover geometries, and forward-flight prescribed wakes (Egolf &amp; Landgrebe) also leave out the mutual distortion of the two wakes, which is the phenomenon itself.</a:t>
            </a:r>
          </a:p>
          <a:p>
            <a:pPr>
              <a:spcAft>
                <a:spcPts val="600"/>
              </a:spcAft>
            </a:pPr>
            <a:r>
              <a:rPr sz="1700"/>
              <a:t>• The survey's hover hybrid relied on an overlap-hover data file whose source could not be verified; it was removed, leaving no hover overlap data we could defend.</a:t>
            </a:r>
          </a:p>
          <a:p>
            <a:pPr>
              <a:spcAft>
                <a:spcPts val="600"/>
              </a:spcAft>
            </a:pPr>
            <a:r>
              <a:rPr sz="1700"/>
              <a:t>• The cost is paid offline: the free wake runs once per advance ratio (minutes); the tool stores Δv(r, ψ) and the BEMT reads it in &lt; 1 s per trim.</a:t>
            </a:r>
          </a:p>
          <a:p>
            <a:pPr>
              <a:spcAft>
                <a:spcPts val="600"/>
              </a:spcAft>
            </a:pPr>
            <a:r>
              <a:rPr sz="1700"/>
              <a:t>• Highest fidelity was not chosen: VPM adds wake merging but costs hours per case and has no forward-flight tandem data to check it against.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Implementation: model structure (tandem_fvw.py, ~540 lines, Python + numba)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Implementation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Blades: lifting line, 8 spanwise panels per blade, rigid blades; section lift and drag from the same linear airfoil constants as the BEMT tool (NACA 0012 polar cd = 0.0087 − 0.0216α + 0.400α²).</a:t>
            </a:r>
          </a:p>
          <a:p>
            <a:pPr>
              <a:spcAft>
                <a:spcPts val="600"/>
              </a:spcAft>
            </a:pPr>
            <a:r>
              <a:rPr sz="1700"/>
              <a:t>• Wake: vortex lattice of trailed and shed filaments behind every blade. Lagrangian markers released every 10° of azimuth, 5 revolutions of wake kept.</a:t>
            </a:r>
          </a:p>
          <a:p>
            <a:pPr>
              <a:spcAft>
                <a:spcPts val="600"/>
              </a:spcAft>
            </a:pPr>
            <a:r>
              <a:rPr sz="1700"/>
              <a:t>• Convection: each marker moves with free stream + induced velocity of both rotors' bound vortices and wakes; 2nd-order Adams–Bashforth time marching.</a:t>
            </a:r>
          </a:p>
          <a:p>
            <a:pPr>
              <a:spcAft>
                <a:spcPts val="600"/>
              </a:spcAft>
            </a:pPr>
            <a:r>
              <a:rPr sz="1700"/>
              <a:t>• Induced velocity: exact straight-segment Biot–Savart with a Vatistas n = 2 core (removes the Biot–Savart singularity at the filament and stands in for the real viscous core):</a:t>
            </a:r>
          </a:p>
          <a:p>
            <a:pPr lvl="1">
              <a:spcAft>
                <a:spcPts val="600"/>
              </a:spcAft>
            </a:pPr>
            <a:r>
              <a:rPr sz="1500"/>
              <a:t>– v = (Γ/4π)·(r₁×r₂)·[r₀·(r₁/|r₁| − r₂/|r₂|)] / (|r₀|²·√(r_c⁴ + h⁴))</a:t>
            </a:r>
          </a:p>
          <a:p>
            <a:pPr>
              <a:spcAft>
                <a:spcPts val="600"/>
              </a:spcAft>
            </a:pPr>
            <a:r>
              <a:rPr sz="1700"/>
              <a:t>• Viscous core growth with wake age stands in for viscous diffusion (Squire / Bhagwat &amp; Leishman): r_c² = r₀² + 4α_L δ ν ζ/Ω, δ = 1 + a₁Γ/ν, a₁ = 6.5×10⁻⁵; r₀ = 0.1c at tip, 0.3c inboard.</a:t>
            </a:r>
          </a:p>
          <a:p>
            <a:pPr>
              <a:spcAft>
                <a:spcPts val="600"/>
              </a:spcAft>
            </a:pPr>
            <a:r>
              <a:rPr sz="1700"/>
              <a:t>• Both rotors are solved together in one time-marching loop, so the interaction is two-way (forward wake on aft rotor, aft upwash on forward rotor).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Implementation: trim, tandem layout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Implementation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Trim per rotor: collective for thrust = W/2; cyclic to drive hub roll and pitch moments to zero (equivalent to zero flapping for an articulated rotor).</a:t>
            </a:r>
          </a:p>
          <a:p>
            <a:pPr>
              <a:spcAft>
                <a:spcPts val="600"/>
              </a:spcAft>
            </a:pPr>
            <a:r>
              <a:rPr sz="1700"/>
              <a:t>• Shaft tilt set so the two rotors balance fuselage drag ½ρV²f (f = 3.7 m² CH-47 class, assumed; 2 ft² per rotor for the Dingeldein rig, as tested).</a:t>
            </a:r>
          </a:p>
          <a:p>
            <a:pPr>
              <a:spcAft>
                <a:spcPts val="600"/>
              </a:spcAft>
            </a:pPr>
            <a:r>
              <a:rPr sz="1700"/>
              <a:t>• Layout: aft hub 13.60 m behind and 1.30 m above the forward hub; forward rotor CCW, aft CW from above; blades phased to interleave.</a:t>
            </a:r>
          </a:p>
          <a:p>
            <a:pPr>
              <a:spcAft>
                <a:spcPts val="600"/>
              </a:spcAft>
            </a:pPr>
            <a:r>
              <a:rPr sz="1700"/>
              <a:t>• Each operating point run three ways: isolated rotor, tandem forward, tandem aft → interference = tandem − isolated, same trim and same code.</a:t>
            </a:r>
          </a:p>
          <a:p>
            <a:pPr>
              <a:spcAft>
                <a:spcPts val="600"/>
              </a:spcAft>
            </a:pPr>
            <a:r>
              <a:rPr sz="1700"/>
              <a:t>• Interference map: forward rotor's bound + wake velocity evaluated on a 12 × 36 polar grid over the aft disk every step, averaged over the last 2 revolutions → Δv(r, ψ) for the BEMT tool.</a:t>
            </a:r>
          </a:p>
          <a:p>
            <a:pPr>
              <a:spcAft>
                <a:spcPts val="600"/>
              </a:spcAft>
            </a:pPr>
            <a:r>
              <a:rPr sz="1700"/>
              <a:t>• Power split: shaft = profile + induced + propulsive (T·sin tilt).</a:t>
            </a:r>
          </a:p>
          <a:p>
            <a:pPr>
              <a:spcAft>
                <a:spcPts val="600"/>
              </a:spcAft>
            </a:pPr>
            <a:r>
              <a:rPr sz="1700"/>
              <a:t>• One command, from the repository root: python run_all_mp.py regenerates every figure and table in this deck (cached wake runs). python run_all_mp.py --recompute-fvw also re-runs the free-vortex wake (src/tandem_fvw.py; --quick on that file gives a &lt; 1 min smoke test).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Validation (1/3): code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Validation  |  Team 6</a:t>
            </a:r>
          </a:p>
        </p:txBody>
      </p:sp>
      <p:pic>
        <p:nvPicPr>
          <p:cNvPr id="4" name="Picture 3" descr="ch47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766560" cy="2565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663022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1  Trim and wake convergence, CH-47 class, μ = 0.2, MTOW, sea-level ISA, each rotor trimmed to W/2 with zero hub moments.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/>
              <a:t>• Convergence: thrust within 0.1–3 % of target, hub moments ≈ 0; power varies &lt; 1.5 % over the last 4 revs.</a:t>
            </a:r>
          </a:p>
          <a:p>
            <a:pPr>
              <a:spcAft>
                <a:spcPts val="600"/>
              </a:spcAft>
            </a:pPr>
            <a:r>
              <a:rPr sz="1500"/>
              <a:t>• Momentum limit: isolated CH-47 rotor induced power = 1.08× (μ 0.1) and 1.21× (μ 0.2) the Glauert value, inside the usual 1.1–1.3 range.</a:t>
            </a:r>
          </a:p>
          <a:p>
            <a:pPr>
              <a:spcAft>
                <a:spcPts val="600"/>
              </a:spcAft>
            </a:pPr>
            <a:r>
              <a:rPr sz="1500"/>
              <a:t>• Baseline recovery: the tandem forward rotor ≈ isolated rotor (−0.2 to −0.9 hp on Dingeldein rig), as measured.</a:t>
            </a:r>
          </a:p>
          <a:p>
            <a:pPr>
              <a:spcAft>
                <a:spcPts val="600"/>
              </a:spcAft>
            </a:pPr>
            <a:r>
              <a:rPr sz="1500"/>
              <a:t>• Bug found and fixed: tip panels finer than the vortex core caused ±20 % saw-tooth power; near-uniform panels removed it.</a:t>
            </a:r>
          </a:p>
          <a:p>
            <a:pPr>
              <a:spcAft>
                <a:spcPts val="600"/>
              </a:spcAft>
            </a:pPr>
            <a:r>
              <a:rPr sz="1500"/>
              <a:t>• Hand calc: ideal hover induced power 2.93 MW (slide 3); the BEMT tool gives 4357 kW hover shaft power at MTOW, i.e. FM ≈ 0.67, a realistic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Validation (2/3): standalone free-vortex wake vs Dingeldein NACA TN-3236, Fig.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Validation  |  Team 6</a:t>
            </a:r>
          </a:p>
        </p:txBody>
      </p:sp>
      <p:pic>
        <p:nvPicPr>
          <p:cNvPr id="4" name="Picture 3" descr="dingeldei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37236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683747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2  Two 15 ft, 2-blade untwisted NACA 0012 rotors, σ = 0.054, coplanar, shafts 1.03D apart (no overlap), C_T = 0.0034, ΩR = 500 ft/s, f = 2 ft² per rotor. Markers digitised from the report (±0.5 hp).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5186667"/>
          <a:ext cx="7315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r>
                        <a:rPr sz="1300" b="1"/>
                        <a:t>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0.295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/>
                        <a:t>Rear − single, measured [hp]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6.7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/>
                        <a:t>Rear − single, FVW [hp]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3.2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0"/>
                        <a:t>Coleman overlap model [hp]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5140947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• μ 0.11–0.145: rotor powers within 15 %, increment within 20 %.</a:t>
            </a:r>
          </a:p>
          <a:p>
            <a:pPr>
              <a:spcAft>
                <a:spcPts val="600"/>
              </a:spcAft>
            </a:pPr>
            <a:r>
              <a:rPr sz="1400"/>
              <a:t>• μ ≥ 0.19: increment under-predicted; above 0.2 isolated power over-predicted (blade stall model), so trust only μ ≲ 0.2.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Validation (3/3): integrated BEMT + free-wake tool vs Dingeldein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Validation  |  Team 6</a:t>
            </a:r>
          </a:p>
        </p:txBody>
      </p:sp>
      <p:pic>
        <p:nvPicPr>
          <p:cNvPr id="4" name="Picture 3" descr="tandem_validation_dingeld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863840" cy="3310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270862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3  Integrated tool (team BEMT, model="fvw") vs TN-3236 Fig. 6. Rig as Fig. 2; each rotor trimmed to its thrust with zero hub moments; shaft tilt balances fuselage drag. Shaded: μ &gt; 0.2, blade model unreliable.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21040" y="1051560"/>
          <a:ext cx="3657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85800"/>
                <a:gridCol w="640080"/>
                <a:gridCol w="548640"/>
                <a:gridCol w="594360"/>
                <a:gridCol w="640080"/>
              </a:tblGrid>
              <a:tr h="320039">
                <a:tc>
                  <a:txBody>
                    <a:bodyPr/>
                    <a:lstStyle/>
                    <a:p>
                      <a:r>
                        <a:rPr sz="1100" b="1"/>
                        <a:t>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Rear meas. [hp]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Rear tool [hp]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meas.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tool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 b="0"/>
                        <a:t>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−8 %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7.9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 b="0"/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−9 %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6.5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 b="0"/>
                        <a:t>0.190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−2 %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5.1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 b="0"/>
                        <a:t>0.240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3.9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100" b="0"/>
                        <a:t>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+28 %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3200400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• Rear-rotor power: mean |error| 6.7 % for μ ≤ 0.2.</a:t>
            </a:r>
          </a:p>
          <a:p>
            <a:pPr>
              <a:spcAft>
                <a:spcPts val="600"/>
              </a:spcAft>
            </a:pPr>
            <a:r>
              <a:rPr sz="1300"/>
              <a:t>• Interference increment Δ = rear − single: under-predicted by ~26 % for μ ≤ 0.2. Interference penalties in the assessment are therefore likely conservative (low).</a:t>
            </a:r>
          </a:p>
          <a:p>
            <a:pPr>
              <a:spcAft>
                <a:spcPts val="600"/>
              </a:spcAft>
            </a:pPr>
            <a:r>
              <a:rPr sz="1300"/>
              <a:t>• Coleman overlap model: 0 hp at every 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Integration: how the free wake plugs into our BEMT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Integration  |  Team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43000"/>
            <a:ext cx="2560320" cy="1371600"/>
          </a:xfrm>
          <a:prstGeom prst="roundRect">
            <a:avLst/>
          </a:prstGeom>
          <a:solidFill>
            <a:srgbClr val="D0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Offline: tandem_fvw.py</a:t>
            </a:r>
          </a:p>
          <a:p>
            <a:r>
              <a:rPr sz="1300">
                <a:solidFill>
                  <a:srgbClr val="FFFFFF"/>
                </a:solidFill>
              </a:rPr>
              <a:t>free-vortex wake run once per μ (0.05, 0.10, 0.15, 0.20, 0.25)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80360" y="1645920"/>
            <a:ext cx="411480" cy="36576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560320" cy="1371600"/>
          </a:xfrm>
          <a:prstGeom prst="roundRect">
            <a:avLst/>
          </a:prstGeom>
          <a:solidFill>
            <a:srgbClr val="D0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Cached map Δv(r, ψ) of forward-rotor downwash on the aft disk; linear in μ between cases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1645920"/>
            <a:ext cx="411480" cy="36576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2560320" cy="13716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Edgewise BEMT (Milestone 2), aft rotor: external_inflow = Δv(r, ψ) added to each blade element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06840" y="1645920"/>
            <a:ext cx="411480" cy="36576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64040" y="1143000"/>
            <a:ext cx="2468880" cy="13716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Trim (collective + cyclic, zero hub moments) → power, controls, climb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Why an external inflow term: BEMT assumes independent annuli whose inflow is set by the rotor's own momentum balance and quasi-steady 2D sections; another rotor's wake breaks the inflow assumption, so the wake model supplies it.</a:t>
            </a:r>
          </a:p>
          <a:p>
            <a:pPr>
              <a:spcAft>
                <a:spcPts val="600"/>
              </a:spcAft>
            </a:pPr>
            <a:r>
              <a:rPr sz="1600"/>
              <a:t>• Switch: model = "none" (isolated rotors) | "coleman" (original tool, overlap cylinder) | "fvw" (new). With the switch off, the original tool runs bit for bit unchanged; a regression test checks this.</a:t>
            </a:r>
          </a:p>
          <a:p>
            <a:pPr>
              <a:spcAft>
                <a:spcPts val="600"/>
              </a:spcAft>
            </a:pPr>
            <a:r>
              <a:rPr sz="1600"/>
              <a:t>• Coupling is one-way: forward wake → aft rotor. The forward rotor is solved as isolated.</a:t>
            </a:r>
          </a:p>
          <a:p>
            <a:pPr>
              <a:spcAft>
                <a:spcPts val="600"/>
              </a:spcAft>
            </a:pPr>
            <a:r>
              <a:rPr sz="1600"/>
              <a:t>• Fixes to the existing tool: Coleman stagger sign corrected (raising the aft pylon now lowers power, as physics requires); Coleman reference corrected to NACA ARR L5E10 (1945).</a:t>
            </a:r>
          </a:p>
          <a:p>
            <a:pPr>
              <a:spcAft>
                <a:spcPts val="600"/>
              </a:spcAft>
            </a:pPr>
            <a:r>
              <a:rPr sz="1600"/>
              <a:t>• The original tool's tandem validation CSV, whose source could not be verified, was removed; validation uses Dingeldein Fig. 6 only.</a:t>
            </a:r>
          </a:p>
          <a:p>
            <a:pPr>
              <a:spcAft>
                <a:spcPts val="600"/>
              </a:spcAft>
            </a:pPr>
            <a:r>
              <a:rPr sz="1600"/>
              <a:t>• All 127 unit tests pass; python run_all_mp.py regenerates every figure in this deck from the tool.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Rotorcraft assessment (1/4): forward flight, baseline vs augmented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Rotorcraft Assessment  |  Team 6</a:t>
            </a:r>
          </a:p>
        </p:txBody>
      </p:sp>
      <p:pic>
        <p:nvPicPr>
          <p:cNvPr id="4" name="Picture 3" descr="tandem_forward_f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27519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4  Integrated tool. MTOW 22 680 kg, SL ISA, ΩR = 220 m/s, equal thrust split, zero hub moments, f = 3.7 m² (assumed). One-way FVW interference. Shaded: μ &gt; 0.2.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1051560"/>
          <a:ext cx="47548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1005840"/>
                <a:gridCol w="1005840"/>
                <a:gridCol w="1097280"/>
              </a:tblGrid>
              <a:tr h="320039">
                <a:tc>
                  <a:txBody>
                    <a:bodyPr/>
                    <a:lstStyle/>
                    <a:p>
                      <a:r>
                        <a:rPr sz="1300" b="1"/>
                        <a:t>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Base [kW]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Coleman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ΔP FVW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+11 %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+31 %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+34 %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+29 %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3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+23 %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31089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• Peak penalty +34 % at μ ≈ 0.15; almost all on the aft rotor (+59 to +67 %).</a:t>
            </a:r>
          </a:p>
          <a:p>
            <a:pPr>
              <a:spcAft>
                <a:spcPts val="600"/>
              </a:spcAft>
            </a:pPr>
            <a:r>
              <a:rPr sz="1400"/>
              <a:t>• Coleman (original tool) gives only ~4–5 %.</a:t>
            </a:r>
          </a:p>
          <a:p>
            <a:pPr>
              <a:spcAft>
                <a:spcPts val="600"/>
              </a:spcAft>
            </a:pPr>
            <a:r>
              <a:rPr sz="1400"/>
              <a:t>• Aft collective +2.5° to +3.2°; climb margin at μ 0.1 drops from 16.8 to 12.6 m/s.</a:t>
            </a:r>
          </a:p>
          <a:p>
            <a:pPr>
              <a:spcAft>
                <a:spcPts val="600"/>
              </a:spcAft>
            </a:pPr>
            <a:r>
              <a:rPr sz="1400"/>
              <a:t>• Bucket shifts: baseline minimum power near μ 0.2; with interference power still falls at μ 0.25, so the best-endurance speed moves higher.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Rotorcraft assessment (2/4): why the aft rotor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Rotorcraft Assessment  |  Team 6</a:t>
            </a:r>
          </a:p>
        </p:txBody>
      </p:sp>
      <p:pic>
        <p:nvPicPr>
          <p:cNvPr id="4" name="Picture 3" descr="ch47_aft_in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54362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8978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5  Revolution-averaged forward-rotor downwash over the aft disk (front at top), CH-47 class, MTOW. Top: free-vortex wake (the map the tool uses). Bottom: Coleman cylinder on overlap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FVW: the forward wake covers the whole aft disk. Mean Δv = 8.9 m/s (μ 0.1), 6.1 m/s (μ 0.2).</a:t>
            </a:r>
          </a:p>
          <a:p>
            <a:pPr>
              <a:spcAft>
                <a:spcPts val="600"/>
              </a:spcAft>
            </a:pPr>
            <a:r>
              <a:rPr sz="1600"/>
              <a:t>• Coleman on the overlap lens only: 1.7 and 1.0 m/s, about 5–6× too small.</a:t>
            </a:r>
          </a:p>
          <a:p>
            <a:pPr>
              <a:spcAft>
                <a:spcPts val="600"/>
              </a:spcAft>
            </a:pPr>
            <a:r>
              <a:rPr sz="1600"/>
              <a:t>• The pattern is non-uniform and laterally asymmetric (the forward rotor's advancing- and retreating-side tip vortices differ), so the aft rotor also gets roll and pitch disturbances to trim with cyclic.</a:t>
            </a:r>
          </a:p>
          <a:p>
            <a:pPr>
              <a:spcAft>
                <a:spcPts val="600"/>
              </a:spcAft>
            </a:pPr>
            <a:r>
              <a:rPr sz="1600"/>
              <a:t>• Forward rotor Glauert v_i = 7.4 and 3.9 m/s: the aft rotor sits in roughly the forward rotor's far-wake downwash, so it behaves as if climbing.</a:t>
            </a:r>
          </a:p>
          <a:p>
            <a:pPr>
              <a:spcAft>
                <a:spcPts val="600"/>
              </a:spcAft>
            </a:pPr>
            <a:r>
              <a:rPr sz="1600"/>
              <a:t>• Conclusion: an overlap-area correction misses most of the forward-flight penalty.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Rotorcraft assessment (3/4): tool vs standalone two-way free wake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Rotorcraft Assessment  |  Team 6</a:t>
            </a:r>
          </a:p>
        </p:txBody>
      </p:sp>
      <p:pic>
        <p:nvPicPr>
          <p:cNvPr id="4" name="Picture 3" descr="ch47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949440" cy="3023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98321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6  Standalone free-vortex wake (two-way, both rotors free), same CH-47 condition as Fig. 4.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097280"/>
          <a:ext cx="4572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</a:tblGrid>
              <a:tr h="320039">
                <a:tc>
                  <a:txBody>
                    <a:bodyPr/>
                    <a:lstStyle/>
                    <a:p>
                      <a:r>
                        <a:rPr sz="1300" b="1"/>
                        <a:t>Tandem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μ =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μ = 0.2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Integrated tool (one-way)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+31.2 %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+29.3 %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Standalone FVW (two-way)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+25.5 %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+23.8 %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Standalone: fwd rotor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−8 %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300" b="0"/>
                        <a:t>Standalone: aft rotor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+57 %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+55 %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300" b="0"/>
                        <a:t>Tool: aft rotor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+62 %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+59 %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32004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• All assessment numbers in this deck come from the integrated tool unless labelled "standalone".</a:t>
            </a:r>
          </a:p>
          <a:p>
            <a:pPr>
              <a:spcAft>
                <a:spcPts val="600"/>
              </a:spcAft>
            </a:pPr>
            <a:r>
              <a:rPr sz="1300"/>
              <a:t>• The gap (~6 points) is mainly the forward rotor's 6–8 % saving from the aft rotor's upwash, which the one-way tool omits; the two runs also use different blade models (BEMT vs lifting line).</a:t>
            </a:r>
          </a:p>
          <a:p>
            <a:pPr>
              <a:spcAft>
                <a:spcPts val="600"/>
              </a:spcAft>
            </a:pPr>
            <a:r>
              <a:rPr sz="1300"/>
              <a:t>• So the tool slightly over-predicts the total, while Dingeldein says the increment is under-predicted: the true penalty is likely 24–31 %.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Rotorcraft assessment (4/4): hover, layout study and design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Rotorcraft Assessment  |  Team 6</a:t>
            </a:r>
          </a:p>
        </p:txBody>
      </p:sp>
      <p:pic>
        <p:nvPicPr>
          <p:cNvPr id="4" name="Picture 3" descr="tandem_hover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4023360" cy="30845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0446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7  Hover OGE, MTOW, Coleman interference (stagger sign fixed): +118 kW (+2.7 %) SL ISA.</a:t>
            </a:r>
          </a:p>
        </p:txBody>
      </p:sp>
      <p:pic>
        <p:nvPicPr>
          <p:cNvPr id="6" name="Picture 5" descr="tandem_parameter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960120"/>
            <a:ext cx="4023360" cy="308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40446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Fig. 8  Hover parameter study, Coleman model: shaft spacing, radius ratio, pylon height, lift split.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005840"/>
            <a:ext cx="3474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• Hover penalty is small (+2.7 %, FM 0.67 → 0.65); forward flight is where interference matters (+23 to +34 %).</a:t>
            </a:r>
          </a:p>
          <a:p>
            <a:pPr>
              <a:spcAft>
                <a:spcPts val="600"/>
              </a:spcAft>
            </a:pPr>
            <a:r>
              <a:rPr sz="1300"/>
              <a:t>• Power: 3.0–3.9 MW needed vs 6.72 MW available, so not power-limited in level flight; the penalty is fuel flow (~+30 % at equal SFC, inferred) → range, endurance, payload.</a:t>
            </a:r>
          </a:p>
          <a:p>
            <a:pPr>
              <a:spcAft>
                <a:spcPts val="600"/>
              </a:spcAft>
            </a:pPr>
            <a:r>
              <a:rPr sz="1300"/>
              <a:t>• Aft drivetrain and engine margin are sized by the aft rotor (+59–67 %).</a:t>
            </a:r>
          </a:p>
          <a:p>
            <a:pPr>
              <a:spcAft>
                <a:spcPts val="600"/>
              </a:spcAft>
            </a:pPr>
            <a:r>
              <a:rPr sz="1300"/>
              <a:t>• Trim: aft collective +2.5–3.2°; pitch trim and c.g. range shift.</a:t>
            </a:r>
          </a:p>
          <a:p>
            <a:pPr>
              <a:spcAft>
                <a:spcPts val="600"/>
              </a:spcAft>
            </a:pPr>
            <a:r>
              <a:rPr sz="1300"/>
              <a:t>• Layout levers: larger spacing and taller aft pylon reduce the penalty, at structural weight and drag cost.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Rotorcraft Assessment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In the integrated tool only the forward rotor's wake acts on the aft rotor (one-way); the aft rotor's 6–8 % benefit to the forward rotor is omitted, so the total is slightly over-predicted.</a:t>
            </a:r>
          </a:p>
          <a:p>
            <a:pPr>
              <a:spcAft>
                <a:spcPts val="600"/>
              </a:spcAft>
            </a:pPr>
            <a:r>
              <a:rPr sz="1800"/>
              <a:t>• The tool uses the revolution-averaged Δv map, so unsteady blade–vortex interaction loads, vibration and noise are not predicted; only mean power and trim.</a:t>
            </a:r>
          </a:p>
          <a:p>
            <a:pPr>
              <a:spcAft>
                <a:spcPts val="600"/>
              </a:spcAft>
            </a:pPr>
            <a:r>
              <a:rPr sz="1800"/>
              <a:t>• Δv maps belong to one geometry: a new d/R or stagger needs new free-wake runs. Hover still uses the Coleman model.</a:t>
            </a:r>
          </a:p>
          <a:p>
            <a:pPr>
              <a:spcAft>
                <a:spcPts val="600"/>
              </a:spcAft>
            </a:pPr>
            <a:r>
              <a:rPr sz="1800"/>
              <a:t>• Rigid blades, no flapping dynamics; no fuselage, hubs, ground or tunnel walls.</a:t>
            </a:r>
          </a:p>
          <a:p>
            <a:pPr>
              <a:spcAft>
                <a:spcPts val="600"/>
              </a:spcAft>
            </a:pPr>
            <a:r>
              <a:rPr sz="1800"/>
              <a:t>• Quasi-steady 2D lifting-line aerodynamics: no dynamic stall, compressibility or reverse flow. Main error source above μ ≈ 0.2.</a:t>
            </a:r>
          </a:p>
          <a:p>
            <a:pPr>
              <a:spcAft>
                <a:spcPts val="600"/>
              </a:spcAft>
            </a:pPr>
            <a:r>
              <a:rPr sz="1800"/>
              <a:t>• Equal thrust split W/2; a real CH-47 trims pitch with differential collective, so the split varies with c.g.</a:t>
            </a:r>
          </a:p>
          <a:p>
            <a:pPr>
              <a:spcAft>
                <a:spcPts val="600"/>
              </a:spcAft>
            </a:pPr>
            <a:r>
              <a:rPr sz="1800"/>
              <a:t>• 10° time step and 5 revolutions of wake: wake geometry is noisy although integrated loads converge.</a:t>
            </a:r>
          </a:p>
          <a:p>
            <a:pPr>
              <a:spcAft>
                <a:spcPts val="600"/>
              </a:spcAft>
            </a:pPr>
            <a:r>
              <a:rPr sz="1800"/>
              <a:t>• Fuselage flat-plate area for the CH-47 class is assumed (3.7 m²).</a:t>
            </a:r>
          </a:p>
          <a:p>
            <a:pPr>
              <a:spcAft>
                <a:spcPts val="600"/>
              </a:spcAft>
            </a:pPr>
            <a:r>
              <a:rPr sz="1800"/>
              <a:t>• Not compared with a vortex-particle method: no forward-flight tandem VPM data available. Hover overlap validation against Sweet TN D-534 is the next step.</a:t>
            </a:r>
          </a:p>
          <a:p>
            <a:pPr>
              <a:spcAft>
                <a:spcPts val="600"/>
              </a:spcAft>
            </a:pPr>
            <a:r>
              <a:rPr sz="1800"/>
              <a:t>• Future: stall/tip-loss model on the blades, overlap/separation parameter study, hover case, and cheaper reduced-order Δv fits for the sizing loop.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Acknowledgements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Generative AI: Claude (Anthropic), used through the Claude app, assisted with: the literature search and reference checking, writing and debugging the free-vortex wake code and plotting scripts, digitising Dingeldein Fig. 6, reviewing the teammate's BEMT code, and drafting these slides and the conceptual-question document. All results were run and checked by the team; the team is responsible for every number shown.</a:t>
            </a:r>
          </a:p>
          <a:p>
            <a:pPr>
              <a:spcAft>
                <a:spcPts val="600"/>
              </a:spcAft>
            </a:pPr>
            <a:r>
              <a:rPr sz="1800"/>
              <a:t>• The team's Milestone 1–2 BEMT code was used as the existing prediction tool; the AI assistant also wrote the free-wake integration, stagger-sign fix and tests in it.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2020"/>
                </a:solidFill>
              </a:rPr>
              <a:t>• People outside the team: [FILL IN or write "None"]</a:t>
            </a:r>
          </a:p>
          <a:p>
            <a:pPr>
              <a:spcAft>
                <a:spcPts val="600"/>
              </a:spcAft>
            </a:pPr>
            <a:r>
              <a:rPr sz="1800"/>
              <a:t>• External packages: NumPy, Numba, Matplotlib (Python).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6446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References  |  Team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/>
              <a:t>[1] Coleman, R. P., Feingold, A. M., Stempin, C. W., "Evaluation of the Induced-Velocity Field of an Idealized Helicopter Rotor," NACA ARR L5E10, 1945.</a:t>
            </a:r>
          </a:p>
          <a:p>
            <a:pPr>
              <a:spcAft>
                <a:spcPts val="200"/>
              </a:spcAft>
            </a:pPr>
            <a:r>
              <a:rPr sz="1200"/>
              <a:t>[2] Dingeldein, R. C., "Wind-Tunnel Studies of the Performance of Multirotor Configurations," NACA TN-3236, 1954.</a:t>
            </a:r>
          </a:p>
          <a:p>
            <a:pPr>
              <a:spcAft>
                <a:spcPts val="200"/>
              </a:spcAft>
            </a:pPr>
            <a:r>
              <a:rPr sz="1200"/>
              <a:t>[3] Sweet, G. E., "Hovering Measurements for Twin-Rotor Configurations With and Without Overlap," NASA TN D-534, 1960.</a:t>
            </a:r>
          </a:p>
          <a:p>
            <a:pPr>
              <a:spcAft>
                <a:spcPts val="200"/>
              </a:spcAft>
            </a:pPr>
            <a:r>
              <a:rPr sz="1200"/>
              <a:t>[4] Tate, G. D., Jr., "Determination of the Normal Component of Induced Velocity ... for Multi-Rotor Helicopters," M.S. thesis, Georgia Tech, 1958.</a:t>
            </a:r>
          </a:p>
          <a:p>
            <a:pPr>
              <a:spcAft>
                <a:spcPts val="200"/>
              </a:spcAft>
            </a:pPr>
            <a:r>
              <a:rPr sz="1200"/>
              <a:t>[5] Landgrebe, A. J., "An Analytical Method for Predicting Rotor Wake Geometry," J. AHS 14(4), 1969.</a:t>
            </a:r>
          </a:p>
          <a:p>
            <a:pPr>
              <a:spcAft>
                <a:spcPts val="200"/>
              </a:spcAft>
            </a:pPr>
            <a:r>
              <a:rPr sz="1200"/>
              <a:t>[6] Kocurek, J. D., Tangler, J. L., "A Prescribed Wake Lifting Surface Hover Performance Analysis," 32nd AHS Forum, 1976.</a:t>
            </a:r>
          </a:p>
          <a:p>
            <a:pPr>
              <a:spcAft>
                <a:spcPts val="200"/>
              </a:spcAft>
            </a:pPr>
            <a:r>
              <a:rPr sz="1200"/>
              <a:t>[7] Young, C., "The Prediction of Helicopter Rotor Hover Performance using a Prescribed Wake Analysis," ARC CP-1341, 1976.</a:t>
            </a:r>
          </a:p>
          <a:p>
            <a:pPr>
              <a:spcAft>
                <a:spcPts val="200"/>
              </a:spcAft>
            </a:pPr>
            <a:r>
              <a:rPr sz="1200"/>
              <a:t>[8] Egolf, T. A., Landgrebe, A. J., "Helicopter Rotor Wake Geometry and Its Influence in Forward Flight," NASA CR-3726, 1983.</a:t>
            </a:r>
          </a:p>
          <a:p>
            <a:pPr>
              <a:spcAft>
                <a:spcPts val="200"/>
              </a:spcAft>
            </a:pPr>
            <a:r>
              <a:rPr sz="1200"/>
              <a:t>[9] Bhagwat, M. J., "Transient Dynamics of Helicopter Rotor Wakes Using a Time-Accurate Free-Vortex Method," Ph.D. thesis, Univ. of Maryland, 2001.</a:t>
            </a:r>
          </a:p>
          <a:p>
            <a:pPr>
              <a:spcAft>
                <a:spcPts val="200"/>
              </a:spcAft>
            </a:pPr>
            <a:r>
              <a:rPr sz="1200"/>
              <a:t>[10] Leishman, J. G., Bagai, A., "Free-Wake Analysis of Twin-Rotor Systems," 20th ERF, Paper 28, 1994.</a:t>
            </a:r>
          </a:p>
          <a:p>
            <a:pPr>
              <a:spcAft>
                <a:spcPts val="200"/>
              </a:spcAft>
            </a:pPr>
            <a:r>
              <a:rPr sz="1200"/>
              <a:t>[11] Griffiths, D. A., Leishman, J. G., "A Study of Dual-Rotor Interference and Ground Effect Using a Free-Vortex Wake Model," AHS 58th Forum, 2002.</a:t>
            </a:r>
          </a:p>
          <a:p>
            <a:pPr>
              <a:spcAft>
                <a:spcPts val="200"/>
              </a:spcAft>
            </a:pPr>
            <a:r>
              <a:rPr sz="1200"/>
              <a:t>[12] Tonkal, O. C., et al., "Investigation of Rotor-Rotor Interactions for Two Helicopters in Forward Flight Using Free Vortex Wake Methodology," AIAA 2010-4558.</a:t>
            </a:r>
          </a:p>
          <a:p>
            <a:pPr>
              <a:spcAft>
                <a:spcPts val="200"/>
              </a:spcAft>
            </a:pPr>
            <a:r>
              <a:rPr sz="1200"/>
              <a:t>[13] Tan, J. F., Sun, Y. M., Barakos, G. N., "Vortex Approach for Downwash and Outwash of Tandem Rotors in Ground Effect," J. Aircraft 55(6), 2018.</a:t>
            </a:r>
          </a:p>
          <a:p>
            <a:pPr>
              <a:spcAft>
                <a:spcPts val="200"/>
              </a:spcAft>
            </a:pPr>
            <a:r>
              <a:rPr sz="1200"/>
              <a:t>[14] Zanotti, A., Piccinini, R., Tugnoli, M., "Numerical Investigation of the Rotor-Rotor Aerodynamic Interaction of eVTOL Configurations by a Mid-Fidelity Approach," ERF 2021.</a:t>
            </a:r>
          </a:p>
          <a:p>
            <a:pPr>
              <a:spcAft>
                <a:spcPts val="200"/>
              </a:spcAft>
            </a:pPr>
            <a:r>
              <a:rPr sz="1200"/>
              <a:t>[15] Chen, P.-W., et al., "Extraction of Dynamic Inflow Models for Coaxial and Tandem Rotors from CFD Simulations," VFS 75th Forum, 2019.</a:t>
            </a:r>
          </a:p>
          <a:p>
            <a:pPr>
              <a:spcAft>
                <a:spcPts val="200"/>
              </a:spcAft>
            </a:pPr>
            <a:r>
              <a:rPr sz="1200"/>
              <a:t>[16] Leishman, J. G., Principles of Helicopter Aerodynamics, 2nd ed., Cambridge University Press,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